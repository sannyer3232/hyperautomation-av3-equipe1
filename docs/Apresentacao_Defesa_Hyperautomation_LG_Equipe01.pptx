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702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1):</a:t>
            </a:r>
          </a:p>
          <a:p>
            <a:r>
              <a:t>- Cumprimentar o professor Moisés Levy e a banca avaliadora.</a:t>
            </a:r>
          </a:p>
          <a:p>
            <a:r>
              <a:t>- Apresentar a Equipe 01 e introduzir o tema: Automação Inteligente do Processo de Seleção de Fornecedores para a LG Electronics do Brasil.</a:t>
            </a:r>
          </a:p>
          <a:p>
            <a:r>
              <a:t>- Informar que a apresentação está estruturada de forma lógica seguindo a esteira oficial: Problema -&gt; Solução -&gt; Automação -&gt; Testes -&gt; Docker -&gt; CI/CD -&gt; GHCR -&gt; Execução -&gt; Resultado.</a:t>
            </a:r>
          </a:p>
          <a:p>
            <a:r>
              <a:t>- Explicar que a defesa está dividida de maneira equilibrada entre os 4 integrantes.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1):</a:t>
            </a:r>
          </a:p>
          <a:p>
            <a:r>
              <a:t>- Explicar o cenário AS-IS da LG Electronics em Manaus.</a:t>
            </a:r>
          </a:p>
          <a:p>
            <a:r>
              <a:t>- Destacar que no modelo anterior, o comprador dependia de transcrição manual de propostas recebidas por e-mail em formatos dispersos.</a:t>
            </a:r>
          </a:p>
          <a:p>
            <a:r>
              <a:t>- Enfatizar as três dores críticas: risco de erro em cálculos de TCO, demora de até 10 dias no ciclo de compra e vulnerabilidade para auditorias SOX.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1):</a:t>
            </a:r>
          </a:p>
          <a:p>
            <a:r>
              <a:t>- Apresentar a visão TO-BE dividida em Ingestão/RPA, Validação/Decisão e Governança/Auditoria.</a:t>
            </a:r>
          </a:p>
          <a:p>
            <a:r>
              <a:t>- Enfatizar a redução de 95% do tempo de processamento e conformidade de 100% com auditorias.</a:t>
            </a:r>
          </a:p>
          <a:p>
            <a:r>
              <a:t>- Passar a palavra para o Integrante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2):</a:t>
            </a:r>
          </a:p>
          <a:p>
            <a:r>
              <a:t>- Assumir a apresentação explicando a arquitetura em 6 etapas da pipeline.</a:t>
            </a:r>
          </a:p>
          <a:p>
            <a:r>
              <a:t>- Explicar como cada módulo possui responsabilidade bem definida e desacoplada, facilitando testes e manutenção.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2):</a:t>
            </a:r>
          </a:p>
          <a:p>
            <a:r>
              <a:t>- Justificar as escolhas técnicas: Playwright moderno para RPA web headless, Pandas para operações vetoriais de MCDA, Pytest para testes e Docker Compose com timezone America/Manaus.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2):</a:t>
            </a:r>
          </a:p>
          <a:p>
            <a:r>
              <a:t>- Demonstrar o caminho feliz da esteira.</a:t>
            </a:r>
          </a:p>
          <a:p>
            <a:r>
              <a:t>- Mostrar que os 3 fornecedores válidos foram processados e o Fornecedor B venceu pelo peso preponderante de Custo (40%).</a:t>
            </a:r>
          </a:p>
          <a:p>
            <a:r>
              <a:t>- Passar a palavra para o Integrante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3):</a:t>
            </a:r>
          </a:p>
          <a:p>
            <a:r>
              <a:t>- Assumir a apresentação respondendo: 'Como o robô trata erros?'.</a:t>
            </a:r>
          </a:p>
          <a:p>
            <a:r>
              <a:t>- Explicar o caso do Fornecedor D (bloqueado e dados negativos) e como o Data Filtering Gateway evita distorcer as notas dos demais.</a:t>
            </a:r>
          </a:p>
          <a:p>
            <a:r>
              <a:t>- Demonstrar a resiliência de rede em 4 camadas.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3):</a:t>
            </a:r>
          </a:p>
          <a:p>
            <a:r>
              <a:t>- Apresentar a suíte com 51 testes automatizados cobrindo todos os ramos de negócio e exceção com 100% de sucesso.</a:t>
            </a:r>
          </a:p>
          <a:p>
            <a:r>
              <a:t>- Destacar a integração no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3):</a:t>
            </a:r>
          </a:p>
          <a:p>
            <a:r>
              <a:t>- Explicar as fórmulas matemáticas do MCDA e o benchmark de mercado.</a:t>
            </a:r>
          </a:p>
          <a:p>
            <a:r>
              <a:t>- Passar a palavra para o Integrante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4):</a:t>
            </a:r>
          </a:p>
          <a:p>
            <a:r>
              <a:t>- Assumir a apresentação abordando a infraestrutura de Docker e Docker Compose.</a:t>
            </a:r>
          </a:p>
          <a:p>
            <a:r>
              <a:t>- Explicar os volumes persistentes, as variáveis de ambiente e o timezone America/Manaus.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4):</a:t>
            </a:r>
          </a:p>
          <a:p>
            <a:r>
              <a:t>- Explicar a esteira automatizada de CI/CD no GitHub Actions e a publicação no GitHub Container Registry (GHCR).</a:t>
            </a:r>
          </a:p>
          <a:p>
            <a:r>
              <a:t>- Mostrar os comandos docker pull e docker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4):</a:t>
            </a:r>
          </a:p>
          <a:p>
            <a:r>
              <a:t>- Explicar a diferença entre o log operacional para suporte e o snapshot JSON de auditoria SOX para compliance da LG.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(👤 INTEGRANTE 4):</a:t>
            </a:r>
          </a:p>
          <a:p>
            <a:r>
              <a:t>- Fazer o fechamento executivo respondendo às 5 perguntas obrigatórias de conclusão.</a:t>
            </a:r>
          </a:p>
          <a:p>
            <a:r>
              <a:t>- Anunciar o início da demonstração prática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(👥 TODOS OS 4 INTEGRANTES):</a:t>
            </a:r>
          </a:p>
          <a:p>
            <a:r>
              <a:t>- Seguir exatamente este roteiro cronometrado na demonstração ao vivo para a banca examinadora.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NOTAS DO ORADOR (👥 TODOS OS 4 INTEGRANTES):</a:t>
            </a:r>
          </a:p>
          <a:p>
            <a:r>
              <a:t>- Agradecer a atenção do professor Moisés Levy e da banca.</a:t>
            </a:r>
          </a:p>
          <a:p>
            <a:r>
              <a:t>- Abrir para a sessão de perguntas individuais e coletivas da banca examinadora.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50034"/>
                </a:solidFill>
              </a:defRPr>
            </a:pPr>
            <a:r>
              <a:t>AVALIAÇÃO 03 — DEFESA TÉCNICA E APRESENTAÇÃO DE PROJETO</a:t>
            </a:r>
          </a:p>
          <a:p>
            <a:pPr>
              <a:spcAft>
                <a:spcPts val="1000"/>
              </a:spcAft>
              <a:defRPr sz="2700" b="1">
                <a:solidFill>
                  <a:srgbClr val="FFFFFF"/>
                </a:solidFill>
              </a:defRPr>
            </a:pPr>
            <a:r>
              <a:t>Automação Inteligente do Processo de</a:t>
            </a:r>
            <a:br/>
            <a:r>
              <a:t>Seleção de Fornecedores Industriais</a:t>
            </a:r>
          </a:p>
          <a:p>
            <a:pPr>
              <a:defRPr sz="1200">
                <a:solidFill>
                  <a:srgbClr val="00B4D8"/>
                </a:solidFill>
              </a:defRPr>
            </a:pPr>
            <a:r>
              <a:t>Pipeline ponta a ponta com RPA (Playwright), Algoritmo de Decisão Multicritério (MCDA), Containerização Docker e CI/CD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914400"/>
            <a:ext cx="3870655" cy="31089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r>
              <a:t>📷 [ ESPAÇO PARA LOGO / BANNER DA LG / CAPA ]</a:t>
            </a:r>
          </a:p>
          <a:p>
            <a:pPr algn="ctr">
              <a:defRPr sz="950">
                <a:solidFill>
                  <a:srgbClr val="C8CDDC"/>
                </a:solidFill>
              </a:defRPr>
            </a:pPr>
            <a:r>
              <a:t>Insira aqui o logotipo da LG Electronics / AX Academy ou imagem ilustrativa de Hyperautomation.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10728655" cy="1828800"/>
          </a:xfrm>
          <a:prstGeom prst="roundRect">
            <a:avLst/>
          </a:prstGeom>
          <a:solidFill>
            <a:srgbClr val="1C2541"/>
          </a:solidFill>
          <a:ln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spcAft>
                <a:spcPts val="400"/>
              </a:spcAft>
              <a:defRPr sz="1100" b="1">
                <a:solidFill>
                  <a:srgbClr val="FFD166"/>
                </a:solidFill>
              </a:defRPr>
            </a:pPr>
            <a:r>
              <a:t>EQUIPE 01 — DIVISÃO DA DEFESA EM 4 INTEGRANTES (Turma T02 • Prof. Moisés Levy):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• Integrante 1 (Líder / Negócio): Problema AS-IS na LG, Solução Proposta TO-BE e Governança</a:t>
            </a:r>
            <a:br/>
            <a:r>
              <a:t>• Integrante 2 (Automação / Dados): Pipeline em 6 Etapas, Arquitetura Técnica e Cenário Normal (Fornecedores A, B, C)</a:t>
            </a:r>
            <a:br/>
            <a:r>
              <a:t>• Integrante 3 (Qualidade / MCDA): Gestão de Exceções (Fornecedor D), Resiliência e Suíte Pytest (51 Testes)</a:t>
            </a:r>
            <a:br/>
            <a:r>
              <a:t>• Integrante 4 (DevOps / Governança): Docker, Docker Compose, CI/CD GitHub Actions, GHCR e Auditoria SOX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1. CONTEXTO &amp; DORES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O Problema de Negócio: Processo Manual AS-IS na LG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1 (Líder / Negócio)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FLUXO MANUAL &amp; IMPACTOS (AS-IS)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1. Disparo Manual de RFQs por E-mail:</a:t>
            </a:r>
            <a:br/>
            <a:r>
              <a:t>   Compradores solicitam cotações sem padronização.</a:t>
            </a:r>
            <a:br/>
            <a:br/>
            <a:r>
              <a:t>2. Recepção Despadronizada:</a:t>
            </a:r>
            <a:br/>
            <a:r>
              <a:t>   Propostas chegam em formatos dispersos (.xlsx, .csv).</a:t>
            </a:r>
            <a:br/>
            <a:br/>
            <a:r>
              <a:t>3. Transcrição Manual para Planilhas Locais:</a:t>
            </a:r>
            <a:br/>
            <a:r>
              <a:t>   Comprador digita preços, prazos e impostos no Excel.</a:t>
            </a:r>
            <a:br/>
            <a:br/>
            <a:r>
              <a:t>🚨 Impactos e Riscos Críticos:</a:t>
            </a:r>
            <a:br/>
            <a:r>
              <a:t>• Erro Humano: 12% de divergências em valores e prazos.</a:t>
            </a:r>
            <a:br/>
            <a:r>
              <a:t>• Alto Lead Time: Ciclo de compras levava de 5 a 10 dias úteis.</a:t>
            </a:r>
            <a:br/>
            <a:r>
              <a:t>• Não-Conformidade SOX: Falta de logs e auditoria digital.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2. VISÃO TO-BE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A Solução Proposta: Hyperautomation de Ponta a Ponta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1 (Líder / Negócio)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PILAREs DA SOLUÇÃO (TO-BE)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1. Ingestão Automatizada &amp; RPA Web:</a:t>
            </a:r>
            <a:br/>
            <a:r>
              <a:t>• Varredura autônoma de diretórios (.xlsx e .csv).</a:t>
            </a:r>
            <a:br/>
            <a:r>
              <a:t>• Robô Playwright consulta status no portal corporativo.</a:t>
            </a:r>
            <a:br/>
            <a:br/>
            <a:r>
              <a:t>2. Validação &amp; Motor de Decisão MCDA:</a:t>
            </a:r>
            <a:br/>
            <a:r>
              <a:t>• Barramento instantâneo de dados negativos e bloqueios.</a:t>
            </a:r>
            <a:br/>
            <a:r>
              <a:t>• Algoritmo de scoring relativo com pesos oficiais de negócio.</a:t>
            </a:r>
            <a:br/>
            <a:br/>
            <a:r>
              <a:t>3. Governança, CI/CD &amp; Auditoria SOX:</a:t>
            </a:r>
            <a:br/>
            <a:r>
              <a:t>• Planilha homologada oficial e JSON de auditoria digital.</a:t>
            </a:r>
            <a:br/>
            <a:r>
              <a:t>• Redução do tempo de processamento de 8h para 25 segundos.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3. ARQUITETURA DO PIPELINE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Fluxo da Solução: Pipeline Modular em 6 Etapas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2 (Automação / Dados)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>
              <a:gd name="adj" fmla="val 11848"/>
            </a:avLst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rPr dirty="0"/>
              <a:t>ESTRUTURA DAS 6 ETAPAS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rPr dirty="0"/>
              <a:t>• ETAPA 1 (Coleta): </a:t>
            </a:r>
            <a:r>
              <a:rPr dirty="0" err="1"/>
              <a:t>Varredura</a:t>
            </a:r>
            <a:r>
              <a:rPr dirty="0"/>
              <a:t> de </a:t>
            </a:r>
            <a:r>
              <a:rPr dirty="0" err="1"/>
              <a:t>arquivos</a:t>
            </a:r>
            <a:r>
              <a:rPr dirty="0"/>
              <a:t> e Playwright RPA no portal web.</a:t>
            </a:r>
            <a:br>
              <a:rPr dirty="0"/>
            </a:br>
            <a:br>
              <a:rPr dirty="0"/>
            </a:br>
            <a:r>
              <a:rPr dirty="0"/>
              <a:t>• ETAPA 2 (</a:t>
            </a:r>
            <a:r>
              <a:rPr dirty="0" err="1"/>
              <a:t>Leitura</a:t>
            </a:r>
            <a:r>
              <a:rPr dirty="0"/>
              <a:t>): </a:t>
            </a:r>
            <a:r>
              <a:rPr dirty="0" err="1"/>
              <a:t>Ingestão</a:t>
            </a:r>
            <a:r>
              <a:rPr dirty="0"/>
              <a:t> </a:t>
            </a:r>
            <a:r>
              <a:rPr dirty="0" err="1"/>
              <a:t>multiformato</a:t>
            </a:r>
            <a:r>
              <a:rPr dirty="0"/>
              <a:t> (Excel/CSV) e carga de </a:t>
            </a:r>
            <a:r>
              <a:rPr dirty="0" err="1"/>
              <a:t>critérios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ETAPA 3 (</a:t>
            </a:r>
            <a:r>
              <a:rPr dirty="0" err="1"/>
              <a:t>Validação</a:t>
            </a:r>
            <a:r>
              <a:rPr dirty="0"/>
              <a:t>): </a:t>
            </a:r>
            <a:r>
              <a:rPr dirty="0" err="1"/>
              <a:t>Barramento</a:t>
            </a:r>
            <a:r>
              <a:rPr dirty="0"/>
              <a:t> cadastral e </a:t>
            </a:r>
            <a:r>
              <a:rPr dirty="0" err="1"/>
              <a:t>numérico</a:t>
            </a:r>
            <a:r>
              <a:rPr dirty="0"/>
              <a:t> (Data Filtering).</a:t>
            </a:r>
            <a:br>
              <a:rPr dirty="0"/>
            </a:br>
            <a:br>
              <a:rPr dirty="0"/>
            </a:br>
            <a:r>
              <a:rPr dirty="0"/>
              <a:t>• ETAPA 4 (</a:t>
            </a:r>
            <a:r>
              <a:rPr dirty="0" err="1"/>
              <a:t>Consolidação</a:t>
            </a:r>
            <a:r>
              <a:rPr dirty="0"/>
              <a:t>): </a:t>
            </a:r>
            <a:r>
              <a:rPr dirty="0" err="1"/>
              <a:t>Tipagem</a:t>
            </a:r>
            <a:r>
              <a:rPr dirty="0"/>
              <a:t> </a:t>
            </a:r>
            <a:r>
              <a:rPr dirty="0" err="1"/>
              <a:t>estrita</a:t>
            </a:r>
            <a:r>
              <a:rPr dirty="0"/>
              <a:t> e </a:t>
            </a:r>
            <a:r>
              <a:rPr dirty="0" err="1"/>
              <a:t>unificação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DataFrame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ETAPA 5 (Ranking MCDA): Scoring </a:t>
            </a:r>
            <a:r>
              <a:rPr dirty="0" err="1"/>
              <a:t>relativo</a:t>
            </a:r>
            <a:r>
              <a:rPr dirty="0"/>
              <a:t> </a:t>
            </a:r>
            <a:r>
              <a:rPr dirty="0" err="1"/>
              <a:t>ponderado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/>
              <a:t>• ETAPA 6 (</a:t>
            </a:r>
            <a:r>
              <a:rPr dirty="0" err="1"/>
              <a:t>Resultado</a:t>
            </a:r>
            <a:r>
              <a:rPr dirty="0"/>
              <a:t> &amp; Auditoria): </a:t>
            </a:r>
            <a:r>
              <a:rPr dirty="0" err="1"/>
              <a:t>Preenchimento</a:t>
            </a:r>
            <a:r>
              <a:rPr dirty="0"/>
              <a:t> do template </a:t>
            </a:r>
            <a:r>
              <a:rPr dirty="0" err="1"/>
              <a:t>oficial</a:t>
            </a:r>
            <a:r>
              <a:rPr dirty="0"/>
              <a:t> e log SOX.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>
              <a:gd name="adj" fmla="val 10715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4. ENGENHARIA DE SOFTWARE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Stack Tecnológico e Integração dos Componentes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2 (Automação / Dados)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TECNOLOGIAS UTILIZADAS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🐍 Python 3.12 (Core Engine):</a:t>
            </a:r>
            <a:br/>
            <a:r>
              <a:t>• Orquestrador modular com tipagem estrita.</a:t>
            </a:r>
            <a:br/>
            <a:br/>
            <a:r>
              <a:t>🌐 Playwright (Chromium RPA Headless):</a:t>
            </a:r>
            <a:br/>
            <a:r>
              <a:t>• Automação web moderna e rápida sem dependência de WebDriver.</a:t>
            </a:r>
            <a:br/>
            <a:br/>
            <a:r>
              <a:t>📊 Pandas &amp; OpenPyXL:</a:t>
            </a:r>
            <a:br/>
            <a:r>
              <a:t>• Manipulação matricial vetorial e geração de relatórios Excel.</a:t>
            </a:r>
            <a:br/>
            <a:br/>
            <a:r>
              <a:t>🧪 Pytest &amp; Flake8:</a:t>
            </a:r>
            <a:br/>
            <a:r>
              <a:t>• 51 testes automatizados e 0 erros de linting PEP8.</a:t>
            </a:r>
            <a:br/>
            <a:br/>
            <a:r>
              <a:t>🐳 Docker, Docker Compose &amp; GHCR:</a:t>
            </a:r>
            <a:br/>
            <a:r>
              <a:t>• Timezone America/Manaus e publicação oficial no ghcr.io.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5. DEMONSTRAÇÃO CENÁRIO NORMAL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Cenário de Execução Normal: Fornecedores A, B e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2 (Automação / Dados)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ENTRADA &amp; HOMOLOGAÇÃO NORMAL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1. Propostas Comerciais Processadas:</a:t>
            </a:r>
            <a:br/>
            <a:r>
              <a:t>• Fornecedor A (.xlsx): Custo R$ 100 | Prazo: 5d | Cap: 500 | Qual: 95</a:t>
            </a:r>
            <a:br/>
            <a:r>
              <a:t>• Fornecedor B (.csv):  Custo R$ 90  | Prazo: 8d | Cap: 700 | Qual: 90</a:t>
            </a:r>
            <a:br/>
            <a:r>
              <a:t>• Fornecedor C (.xlsx): Custo R$ 110 | Prazo: 4d | Cap: 400 | Qual: 98</a:t>
            </a:r>
            <a:br/>
            <a:br/>
            <a:r>
              <a:t>2. Consulta Cadastral Playwright: Status 'Ativo' validado.</a:t>
            </a:r>
            <a:br/>
            <a:br/>
            <a:r>
              <a:t>🏆 Classificação Oficial Gerada:</a:t>
            </a:r>
            <a:br/>
            <a:r>
              <a:t>• 1º Lugar: Fornecedor B (Score 92.98) -&gt; Menor Custo (R$ 90)</a:t>
            </a:r>
            <a:br/>
            <a:r>
              <a:t>• 2º Lugar: Fornecedor A (Score 89.28) -&gt; Proposta Equilibrada</a:t>
            </a:r>
            <a:br/>
            <a:r>
              <a:t>• 3º Lugar: Fornecedor C (Score 88.08) -&gt; Melhor Prazo/Qualidade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6. GESTÃO DE FALHAS &amp; EXCEÇÕES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Tratamento de Exceções, Resiliência e Barramentos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3 (Qualidade / MCDA)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REGRAS DE BARRAMENTO &amp; RESILIÊNCIA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🚨 Desclassificação do Fornecedor D:</a:t>
            </a:r>
            <a:br/>
            <a:r>
              <a:t>1. Bloqueio Cadastral Web: Status 'Bloqueado' no portal HTML.</a:t>
            </a:r>
            <a:br/>
            <a:r>
              <a:t>2. Dados Negativos: Custo (-50), Prazo (-2) e Capacidade (-100).</a:t>
            </a:r>
            <a:br/>
            <a:r>
              <a:t>🛡️ Data Filtering Gateway: Segregado para não distorcer as notas dos demais concorrentes (Nota 0.00).</a:t>
            </a:r>
            <a:br/>
            <a:br/>
            <a:r>
              <a:t>🔄 Resiliência Multi-Camada de Rede:</a:t>
            </a:r>
            <a:br/>
            <a:r>
              <a:t>• Nível 1: Playwright HTTP (localhost:8000)</a:t>
            </a:r>
            <a:br/>
            <a:r>
              <a:t>• Nível 2: Playwright Local (file://) em nova aba limpa</a:t>
            </a:r>
            <a:br/>
            <a:r>
              <a:t>• Nível 3: Requests + BeautifulSoup</a:t>
            </a:r>
            <a:br/>
            <a:r>
              <a:t>• Nível 4: Leitura direta em disco (0% de parada na fábrica).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7. QUALIDADE &amp; TESTES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Suíte de Testes Automatizados com Pytest (51 Testes)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3 (Qualidade / MCDA)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COBERTURA &amp; ESTRUTURA DE TESTES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🧪 test_coleta.py (24 testes):</a:t>
            </a:r>
            <a:br/>
            <a:r>
              <a:t>• Filtros de arquivos de lock temporários (~$*).</a:t>
            </a:r>
            <a:br/>
            <a:r>
              <a:t>• Playwright RPA com Chromium real e mocks de erro de porta.</a:t>
            </a:r>
            <a:br/>
            <a:br/>
            <a:r>
              <a:t>🧪 test_leitura.py (25 testes):</a:t>
            </a:r>
            <a:br/>
            <a:r>
              <a:t>• Ingestão de XLSX e CSV com delimitadores ';' e ','.</a:t>
            </a:r>
            <a:br/>
            <a:r>
              <a:t>• Tolerância a encodings (utf-8, latin-1) e acentuações.</a:t>
            </a:r>
            <a:br/>
            <a:r>
              <a:t>• Fallback automático de critérios e modelo de ranking.</a:t>
            </a:r>
            <a:br/>
            <a:br/>
            <a:r>
              <a:t>🧪 test_integration.py (2 testes):</a:t>
            </a:r>
            <a:br/>
            <a:r>
              <a:t>• Fluxo integrado ponta a ponta e execução via main.py.</a:t>
            </a:r>
            <a:br/>
            <a:br/>
            <a:r>
              <a:t>📊 Resultado: 51 Testes Aprovados (100% Passed ✅) em ~35s.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8. MODELO MATEMÁTICO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Motor de Decisão Multicritério: Algoritmo MCDA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3 (Qualidade / MCDA)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PESOS DE NEGÓCIO &amp; EQUAÇÕES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📋 Matriz de Critérios (criterios_ranking.xlsx):</a:t>
            </a:r>
            <a:br/>
            <a:r>
              <a:t>• Custo (40% / 0.40) | Direção: Menor é Melhor 🔻</a:t>
            </a:r>
            <a:br/>
            <a:r>
              <a:t>• Prazo (25% / 0.25) | Direção: Menor é Melhor 🔻</a:t>
            </a:r>
            <a:br/>
            <a:r>
              <a:t>• Capacidade (20% / 0.20) | Direção: Maior é Melhor 🔺</a:t>
            </a:r>
            <a:br/>
            <a:r>
              <a:t>• Qualidade (15% / 0.15) | Direção: Maior é Melhor 🔺</a:t>
            </a:r>
            <a:br/>
            <a:r>
              <a:t>⚖️ Soma dos Pesos = 1.00 (100%)</a:t>
            </a:r>
            <a:br/>
            <a:br/>
            <a:r>
              <a:t>📐 Normalização Relativa ao Benchmark de Mercado:</a:t>
            </a:r>
            <a:br/>
            <a:r>
              <a:t>• Menor é Melhor: (Menor Valor / Valor da Proposta) * 100</a:t>
            </a:r>
            <a:br/>
            <a:r>
              <a:t>• Maior é Melhor: (Valor da Proposta / Maior Valor) * 100</a:t>
            </a:r>
            <a:br/>
            <a:br/>
            <a:r>
              <a:t>🎯 Score Global: Soma ponderada dos 4 critérios.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9. INFRAESTRUTURA &amp; CONTAINERS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Containerização com Docker &amp;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4 (DevOps / Governança)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DOCKERFILE &amp; COMPOSE MULTI-SERVIÇO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🐳 Imagem Base: python:3.12-slim otimizada.</a:t>
            </a:r>
            <a:br/>
            <a:br/>
            <a:r>
              <a:t>🕒 Timezone Oficial: TZ=America/Manaus</a:t>
            </a:r>
            <a:br/>
            <a:r>
              <a:t>• Configurado no SO (tzdata) e nas variáveis de ambiente para rastreabilidade de Manaus.</a:t>
            </a:r>
            <a:br/>
            <a:br/>
            <a:r>
              <a:t>🌐 Playwright Chromium Integrado no Build.</a:t>
            </a:r>
            <a:br/>
            <a:br/>
            <a:r>
              <a:t>📂 Volumes Persistentes:</a:t>
            </a:r>
            <a:br/>
            <a:r>
              <a:t>• ./output -&gt; /app/output (Planilha gerada)</a:t>
            </a:r>
            <a:br/>
            <a:r>
              <a:t>• ./logs   -&gt; /app/logs   (Auditoria JSON e logs)</a:t>
            </a:r>
            <a:br/>
            <a:br/>
            <a:r>
              <a:t>🚀 Docker Compose Multi-Serviço:</a:t>
            </a:r>
            <a:br/>
            <a:r>
              <a:t>• Serviço 'web-panel' (porta 8000) + Serviço 'robot'.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r>
              <a:rPr dirty="0"/>
              <a:t>📷 [ SCREENSHOT DOCKER / DOCKER COMPOSE ]</a:t>
            </a:r>
          </a:p>
          <a:p>
            <a:pPr algn="ctr">
              <a:defRPr sz="950">
                <a:solidFill>
                  <a:srgbClr val="C8CDDC"/>
                </a:solidFill>
              </a:defRPr>
            </a:pPr>
            <a:r>
              <a:rPr dirty="0"/>
              <a:t>Cole </a:t>
            </a:r>
            <a:r>
              <a:rPr dirty="0" err="1"/>
              <a:t>aqui</a:t>
            </a:r>
            <a:r>
              <a:rPr dirty="0"/>
              <a:t> o print do terminal </a:t>
            </a:r>
            <a:r>
              <a:rPr dirty="0" err="1"/>
              <a:t>executando</a:t>
            </a:r>
            <a:r>
              <a:rPr dirty="0"/>
              <a:t> 'docker compose up --build' </a:t>
            </a:r>
            <a:r>
              <a:rPr dirty="0" err="1"/>
              <a:t>ou</a:t>
            </a:r>
            <a:r>
              <a:rPr dirty="0"/>
              <a:t> a </a:t>
            </a:r>
            <a:r>
              <a:rPr dirty="0" err="1"/>
              <a:t>visualização</a:t>
            </a:r>
            <a:r>
              <a:rPr dirty="0"/>
              <a:t> no Docker Desktop.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10. DEVOPS &amp; INTEGRAÇÃO CONTÍNUA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Pipeline de CI/CD (GitHub Actions) &amp; Publicação GHCR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4 (DevOps / Governança)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ESTEIRA CI/CD (.github/workflows/ci.yml)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🔄 Gatilhos: Push e Pull Request em main, develop e feature/**.</a:t>
            </a:r>
            <a:br/>
            <a:br/>
            <a:r>
              <a:t>⚙️ Job 1: Lint, Testes e Cobertura:</a:t>
            </a:r>
            <a:br/>
            <a:r>
              <a:t>• Setup Python 3.12 com cache pip e Chromium do Playwright.</a:t>
            </a:r>
            <a:br/>
            <a:r>
              <a:t>• Linting estrito Flake8 (0 erros).</a:t>
            </a:r>
            <a:br/>
            <a:r>
              <a:t>• 51 testes Pytest com relatório de cobertura XML.</a:t>
            </a:r>
            <a:br/>
            <a:br/>
            <a:r>
              <a:t>⚙️ Job 2: Build &amp; Publicação no GHCR:</a:t>
            </a:r>
            <a:br/>
            <a:r>
              <a:t>• Imagem Docker publicada no GitHub Container Registry (ghcr.io).</a:t>
            </a:r>
            <a:br/>
            <a:br/>
            <a:r>
              <a:t>💻 Execução em Produção:</a:t>
            </a:r>
            <a:br/>
            <a:r>
              <a:t>   docker pull ghcr.io/sannyer3232/hyperautomation-av3-equipe1:latest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r>
              <a:t>📷 [ SCREENSHOT GITHUB ACTIONS &amp; GHCR ]</a:t>
            </a:r>
          </a:p>
          <a:p>
            <a:pPr algn="ctr">
              <a:defRPr sz="950">
                <a:solidFill>
                  <a:srgbClr val="C8CDDC"/>
                </a:solidFill>
              </a:defRPr>
            </a:pPr>
            <a:r>
              <a:t>Cole aqui o print da esteira de CI com checks verdes no GitHub Actions e a imagem publicada na aba Packages (GHCR).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11. GOVERNANÇA &amp; COMPLIANCE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Rastreabilidade Digital, Logs e Auditoria SOX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4 (DevOps / Governança)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GOVERNANÇA &amp; ARTEFATOS FINAIS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🏛️ Trilha de Auditoria SOX (logs/auditoria.json):</a:t>
            </a:r>
            <a:br/>
            <a:r>
              <a:t>• Carimbo de data/hora ISO 8601 (TZ Manaus).</a:t>
            </a:r>
            <a:br/>
            <a:r>
              <a:t>• Total de propostas recebidas (4) e aprovadas (3).</a:t>
            </a:r>
            <a:br/>
            <a:r>
              <a:t>• Justificativa da desclassificação do Fornecedor D.</a:t>
            </a:r>
            <a:br/>
            <a:r>
              <a:t>• Memória de cálculo matemática completa dos scores.</a:t>
            </a:r>
            <a:br/>
            <a:br/>
            <a:r>
              <a:t>📋 Logs Operacionais (logs/execucao.log):</a:t>
            </a:r>
            <a:br/>
            <a:r>
              <a:t>• 4 Níveis: [INFO], [WARNING], [ERROR], [CRITICAL].</a:t>
            </a:r>
            <a:br/>
            <a:br/>
            <a:r>
              <a:t>📊 Planilha Homologada (output/ranking_final.xlsx):</a:t>
            </a:r>
            <a:br/>
            <a:r>
              <a:t>• 1º Lugar: Fornecedor B | 2º A | 3º C | Desclassificado: 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r>
              <a:t>📷 [ SCREENSHOT DO RANKING_FINAL.XLSX &amp; AUDITORIA.JSON ]</a:t>
            </a:r>
          </a:p>
          <a:p>
            <a:pPr algn="ctr">
              <a:defRPr sz="950">
                <a:solidFill>
                  <a:srgbClr val="C8CDDC"/>
                </a:solidFill>
              </a:defRPr>
            </a:pPr>
            <a:r>
              <a:t>Cole aqui o print da planilha oficial gerada no Excel e do arquivo auditoria.json formatado.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12. FECHAMENTO &amp; ROI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Conclusão e Entrega de Valor para o Negócio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Integrante 4 (DevOps / Governança)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RESUMO EXECUTIVO &amp; ROI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1. O que foi desenvolvido?</a:t>
            </a:r>
            <a:br/>
            <a:r>
              <a:t>• Solução autônoma de Hyperautomation com RPA, MCDA, Docker e CI/CD.</a:t>
            </a:r>
            <a:br/>
            <a:br/>
            <a:r>
              <a:t>2. Qual problema resolveu?</a:t>
            </a:r>
            <a:br/>
            <a:r>
              <a:t>• Eliminação de 100% da digitação manual de propostas.</a:t>
            </a:r>
            <a:br/>
            <a:r>
              <a:t>• Barramento de fornecedores irregulares.</a:t>
            </a:r>
            <a:br/>
            <a:br/>
            <a:r>
              <a:t>3. Qual resultado foi obtido?</a:t>
            </a:r>
            <a:br/>
            <a:r>
              <a:t>• Redução do tempo de ciclo de 8h para 25 segundos.</a:t>
            </a:r>
            <a:br/>
            <a:br/>
            <a:r>
              <a:t>4. Qual valor entrega para a LG?</a:t>
            </a:r>
            <a:br/>
            <a:r>
              <a:t>• Decisões objetivas de compras e conformidade SOX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r>
              <a:t>📷 [ GRÁFICO DE GANHOS / QUADRO DE RESULTADOS ]</a:t>
            </a:r>
          </a:p>
          <a:p>
            <a:pPr algn="ctr">
              <a:defRPr sz="950">
                <a:solidFill>
                  <a:srgbClr val="C8CDDC"/>
                </a:solidFill>
              </a:defRPr>
            </a:pPr>
            <a:r>
              <a:t>Cole aqui um gráfico de barras comparativo (Tempo Manual 8h vs Robô 25s) ou imagem de encerramento dos resultados.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DEMONSTRAÇÃO AO VIVO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Roteiro da Demonstração Prática (7 Etapas Obrigatórias)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4 Integrantes (Demonstração)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ROTEIRO PASSO A PASSO DA DEMO</a:t>
            </a:r>
          </a:p>
          <a:p>
            <a:pPr>
              <a:defRPr sz="1050">
                <a:solidFill>
                  <a:srgbClr val="C8CDDC"/>
                </a:solidFill>
              </a:defRPr>
            </a:pPr>
            <a:r>
              <a:t>👤 Integrante 1 — ETAPA 1: Código &amp; Pastas no VS Code</a:t>
            </a:r>
            <a:br/>
            <a:r>
              <a:t>👤 Integrante 2 — ETAPA 2: Execução 'python src/main.py'</a:t>
            </a:r>
            <a:br/>
            <a:r>
              <a:t>👤 Integrante 3 — ETAPA 3: Testes 'python -m pytest -v'</a:t>
            </a:r>
            <a:br/>
            <a:r>
              <a:t>👤 Integrante 4 — ETAPA 4: GitHub Actions no Navegador</a:t>
            </a:r>
            <a:br/>
            <a:r>
              <a:t>👤 Integrante 4 — ETAPA 5: Imagem Publicada no GHCR</a:t>
            </a:r>
            <a:br/>
            <a:r>
              <a:t>👤 Integrante 4 — ETAPA 6: Container 'docker compose up'</a:t>
            </a:r>
            <a:br/>
            <a:r>
              <a:t>👥 Todos — ETAPA 7: Exibição de ranking_final.xlsx e auditoria.json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D166"/>
                </a:solidFill>
              </a:defRPr>
            </a:pPr>
            <a:r>
              <a:t>📷 [ CHECKLIST VISUAL DA DEMO AO VIVO ]</a:t>
            </a:r>
          </a:p>
          <a:p>
            <a:pPr algn="ctr">
              <a:defRPr sz="950">
                <a:solidFill>
                  <a:srgbClr val="C8CDDC"/>
                </a:solidFill>
              </a:defRPr>
            </a:pPr>
            <a:r>
              <a:t>Cole aqui o checklist ou esquema das 7 etapas da banca (Código -&gt; Execução -&gt; Pytest -&gt; Actions -&gt; GHCR -&gt; Docker -&gt; Resultados).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0B4D8"/>
                </a:solidFill>
              </a:defRPr>
            </a:pPr>
            <a:r>
              <a:t>PERGUNTAS &amp; RESPOSTAS</a:t>
            </a:r>
          </a:p>
          <a:p>
            <a:pPr>
              <a:defRPr sz="2100" b="1">
                <a:solidFill>
                  <a:srgbClr val="FFFFFF"/>
                </a:solidFill>
              </a:defRPr>
            </a:pPr>
            <a:r>
              <a:t>Defesa Técnica Individual: Perguntas da Banca &amp; Dúvidas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51215" y="411480"/>
            <a:ext cx="3108960" cy="411480"/>
          </a:xfrm>
          <a:prstGeom prst="roundRect">
            <a:avLst/>
          </a:prstGeom>
          <a:solidFill>
            <a:srgbClr val="A50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👤 4 Integrantes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27432"/>
          </a:xfrm>
          <a:prstGeom prst="rect">
            <a:avLst/>
          </a:prstGeom>
          <a:solidFill>
            <a:srgbClr val="3A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3A506B"/>
                </a:solidFill>
              </a:defRPr>
            </a:pPr>
            <a:r>
              <a:t>Técnicas de Hyperautomation (Prof. Moisés Levy) • LG Electronics do Brasil • Equipe 01 • Turma T02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PERGUNTAS FREQUENTES DA BANCA</a:t>
            </a:r>
          </a:p>
          <a:p>
            <a:pPr>
              <a:defRPr sz="1000">
                <a:solidFill>
                  <a:srgbClr val="C8CDDC"/>
                </a:solidFill>
              </a:defRPr>
            </a:pPr>
            <a:r>
              <a:t>1. 'Por que Playwright?' -&gt; Velocidade, headless nativo e estabilidade.</a:t>
            </a:r>
            <a:br/>
            <a:br/>
            <a:r>
              <a:t>2. 'Por que o Fornecedor D foi rejeitado?' -&gt; Bloqueado na web e dados negativos.</a:t>
            </a:r>
            <a:br/>
            <a:br/>
            <a:r>
              <a:t>3. 'Como funciona o cálculo MCDA?' -&gt; Normalização de mercado + pesos oficiais.</a:t>
            </a:r>
            <a:br/>
            <a:br/>
            <a:r>
              <a:t>4. 'Como se recupera de falha de rede?' -&gt; Fallback Playwright HTTP -&gt; file:// -&gt; Disco.</a:t>
            </a:r>
            <a:br/>
            <a:br/>
            <a:r>
              <a:t>5. 'Onde estão os volumes no Docker?' -&gt; ./output e ./logs persistidos no host.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253255"/>
          </a:solidFill>
          <a:ln w="1524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0B4D8"/>
                </a:solidFill>
              </a:defRPr>
            </a:pPr>
            <a:r>
              <a:t>OBRIGADO! DÚVIDAS DA BANCA?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LG ELECTRONICS DO BRASIL</a:t>
            </a:r>
            <a:br/>
            <a:r>
              <a:t>Automação Inteligente do Processo de Seleção de Fornecedores</a:t>
            </a:r>
            <a:br/>
            <a:br/>
            <a:r>
              <a:t>👨‍💻 Equipe 01 — Turma T02 (2026)</a:t>
            </a:r>
            <a:br/>
            <a:r>
              <a:t>• Sannyer Carvalho &amp; Integrantes da Equipe</a:t>
            </a:r>
            <a:br/>
            <a:br/>
            <a:r>
              <a:t>🎓 Disciplina: Técnicas de Hyperautomation</a:t>
            </a:r>
            <a:br/>
            <a:r>
              <a:t>👨‍🏫 Professor Responsável: Prof. Moisés Levy</a:t>
            </a:r>
            <a:br/>
            <a:br/>
            <a:r>
              <a:t>🔗 Repositório: github.com/Sannyer3232/hyperautomation-av3-equipe1</a:t>
            </a:r>
            <a:br/>
            <a:r>
              <a:t>📦 Imagem GHCR: ghcr.io/sannyer3232/hyperautomation-av3-equipe1:latest</a:t>
            </a:r>
            <a:br/>
            <a:br/>
            <a:r>
              <a:t>Estamos abertos para as perguntas da banca avaliadora!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3293</Words>
  <Application>Microsoft Office PowerPoint</Application>
  <PresentationFormat>Widescreen</PresentationFormat>
  <Paragraphs>151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Sannyer Carvalho</cp:lastModifiedBy>
  <cp:revision>5</cp:revision>
  <dcterms:created xsi:type="dcterms:W3CDTF">2013-01-27T09:14:16Z</dcterms:created>
  <dcterms:modified xsi:type="dcterms:W3CDTF">2026-08-30T19:27:51Z</dcterms:modified>
  <cp:category/>
</cp:coreProperties>
</file>